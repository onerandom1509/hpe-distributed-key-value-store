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"/>
      <p:bold r:id="rId16"/>
      <p:boldItalic r:id="rId17"/>
    </p:embeddedFont>
    <p:embeddedFont>
      <p:font typeface="Source Sans 3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hMJuHM71gMlodnzklOzBfDs7L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SourceSans3-italic.fntdata"/><Relationship Id="rId22" Type="http://customschemas.google.com/relationships/presentationmetadata" Target="metadata"/><Relationship Id="rId21" Type="http://schemas.openxmlformats.org/officeDocument/2006/relationships/font" Target="fonts/SourceSans3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SourceSans3-bold.fntdata"/><Relationship Id="rId18" Type="http://schemas.openxmlformats.org/officeDocument/2006/relationships/font" Target="fonts/SourceSans3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74649" y="143510"/>
            <a:ext cx="6101079" cy="22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/>
          <p:nvPr>
            <p:ph idx="3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—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—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:notes"/>
          <p:cNvSpPr/>
          <p:nvPr>
            <p:ph idx="2" type="sldImg"/>
          </p:nvPr>
        </p:nvSpPr>
        <p:spPr>
          <a:xfrm>
            <a:off x="374650" y="504825"/>
            <a:ext cx="6105525" cy="34337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:notes"/>
          <p:cNvSpPr txBox="1"/>
          <p:nvPr>
            <p:ph idx="1" type="body"/>
          </p:nvPr>
        </p:nvSpPr>
        <p:spPr>
          <a:xfrm>
            <a:off x="374650" y="4072574"/>
            <a:ext cx="6101080" cy="4437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1:notes"/>
          <p:cNvSpPr txBox="1"/>
          <p:nvPr>
            <p:ph idx="11" type="ftr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:notes"/>
          <p:cNvSpPr txBox="1"/>
          <p:nvPr>
            <p:ph idx="3" type="hdr"/>
          </p:nvPr>
        </p:nvSpPr>
        <p:spPr>
          <a:xfrm>
            <a:off x="374649" y="143510"/>
            <a:ext cx="6101079" cy="22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4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5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6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7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8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8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:notes"/>
          <p:cNvSpPr/>
          <p:nvPr>
            <p:ph idx="2" type="sldImg"/>
          </p:nvPr>
        </p:nvSpPr>
        <p:spPr>
          <a:xfrm>
            <a:off x="374650" y="504190"/>
            <a:ext cx="6101078" cy="34318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9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9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0:notes"/>
          <p:cNvSpPr/>
          <p:nvPr>
            <p:ph idx="2" type="sldImg"/>
          </p:nvPr>
        </p:nvSpPr>
        <p:spPr>
          <a:xfrm>
            <a:off x="374650" y="504825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0:notes"/>
          <p:cNvSpPr txBox="1"/>
          <p:nvPr>
            <p:ph idx="1" type="body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0:notes"/>
          <p:cNvSpPr txBox="1"/>
          <p:nvPr>
            <p:ph idx="12" type="sldNum"/>
          </p:nvPr>
        </p:nvSpPr>
        <p:spPr>
          <a:xfrm>
            <a:off x="5867399" y="8747760"/>
            <a:ext cx="60833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4" name="Google Shape;544;p10:notes"/>
          <p:cNvSpPr txBox="1"/>
          <p:nvPr>
            <p:ph idx="11" type="ftr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0:notes"/>
          <p:cNvSpPr txBox="1"/>
          <p:nvPr>
            <p:ph idx="3" type="hdr"/>
          </p:nvPr>
        </p:nvSpPr>
        <p:spPr>
          <a:xfrm>
            <a:off x="374649" y="143510"/>
            <a:ext cx="6101079" cy="22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 showMasterSp="0">
  <p:cSld name="Cov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7" y="384049"/>
            <a:ext cx="102413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/>
          <p:nvPr>
            <p:ph type="ctrTitle"/>
          </p:nvPr>
        </p:nvSpPr>
        <p:spPr>
          <a:xfrm>
            <a:off x="374903" y="1813791"/>
            <a:ext cx="10012359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2" type="body"/>
          </p:nvPr>
        </p:nvSpPr>
        <p:spPr>
          <a:xfrm>
            <a:off x="374904" y="3840400"/>
            <a:ext cx="100123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374903" y="2449576"/>
            <a:ext cx="8188525" cy="8758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383433" y="3392391"/>
            <a:ext cx="8188525" cy="876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2026 Hewlett Packard Enterprise Development LP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 showMasterSp="0">
  <p:cSld name="Cove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AI-generated content may be incorrect." id="30" name="Google Shape;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7" y="384049"/>
            <a:ext cx="1024130" cy="29260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/>
          <p:nvPr>
            <p:ph type="ctrTitle"/>
          </p:nvPr>
        </p:nvSpPr>
        <p:spPr>
          <a:xfrm>
            <a:off x="374903" y="1813791"/>
            <a:ext cx="10012359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subTitle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374904" y="3840400"/>
            <a:ext cx="100123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3" showMasterSp="0">
  <p:cSld name="Cove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AI-generated content may be incorrect." id="37" name="Google Shape;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7" y="384049"/>
            <a:ext cx="1024130" cy="29260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6"/>
          <p:cNvSpPr txBox="1"/>
          <p:nvPr>
            <p:ph type="ctrTitle"/>
          </p:nvPr>
        </p:nvSpPr>
        <p:spPr>
          <a:xfrm>
            <a:off x="374903" y="1813791"/>
            <a:ext cx="10012359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subTitle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374904" y="3840400"/>
            <a:ext cx="100123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4 with Light Picture" showMasterSp="0">
  <p:cSld name="Cover 4 with Light Picture">
    <p:bg>
      <p:bgPr>
        <a:solidFill>
          <a:srgbClr val="F2F2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AI-generated content may be incorrect." id="44" name="Google Shape;4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7" y="384049"/>
            <a:ext cx="1024130" cy="292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7"/>
          <p:cNvSpPr txBox="1"/>
          <p:nvPr>
            <p:ph type="ctrTitle"/>
          </p:nvPr>
        </p:nvSpPr>
        <p:spPr>
          <a:xfrm>
            <a:off x="374904" y="1813791"/>
            <a:ext cx="9144000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subTitle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4 with Dark Picture" showMasterSp="0">
  <p:cSld name="Cover 4 with Dark Picture">
    <p:bg>
      <p:bgPr>
        <a:solidFill>
          <a:srgbClr val="383F5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8"/>
          <p:cNvSpPr txBox="1"/>
          <p:nvPr>
            <p:ph type="ctrTitle"/>
          </p:nvPr>
        </p:nvSpPr>
        <p:spPr>
          <a:xfrm>
            <a:off x="374904" y="1813791"/>
            <a:ext cx="9144000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" type="subTitle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18"/>
          <p:cNvSpPr txBox="1"/>
          <p:nvPr>
            <p:ph idx="2" type="body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5 with Picture" showMasterSp="0">
  <p:cSld name="Cover 5 with Pictur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8" y="384049"/>
            <a:ext cx="102412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9"/>
          <p:cNvSpPr txBox="1"/>
          <p:nvPr>
            <p:ph type="ctrTitle"/>
          </p:nvPr>
        </p:nvSpPr>
        <p:spPr>
          <a:xfrm>
            <a:off x="376738" y="1178790"/>
            <a:ext cx="9144000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subTitle"/>
          </p:nvPr>
        </p:nvSpPr>
        <p:spPr>
          <a:xfrm>
            <a:off x="9455099" y="2887954"/>
            <a:ext cx="2485505" cy="1026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/>
          <p:nvPr>
            <p:ph idx="3" type="pic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9455097" y="6155690"/>
            <a:ext cx="1834441" cy="4506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6 with Picture" showMasterSp="0">
  <p:cSld name="Cover 6 with Picture">
    <p:bg>
      <p:bgPr>
        <a:solidFill>
          <a:srgbClr val="F2F2F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rectangle with a green and black rectangle&#10;&#10;AI-generated content may be incorrect." id="68" name="Google Shape;6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68" y="0"/>
            <a:ext cx="1218726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a black square&#10;&#10;AI-generated content may be incorrect." id="69" name="Google Shape;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907" y="384049"/>
            <a:ext cx="1024130" cy="29260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0"/>
          <p:cNvSpPr txBox="1"/>
          <p:nvPr>
            <p:ph type="ctrTitle"/>
          </p:nvPr>
        </p:nvSpPr>
        <p:spPr>
          <a:xfrm>
            <a:off x="379912" y="1127322"/>
            <a:ext cx="4465637" cy="2951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" type="subTitle"/>
          </p:nvPr>
        </p:nvSpPr>
        <p:spPr>
          <a:xfrm>
            <a:off x="374650" y="4101315"/>
            <a:ext cx="4465638" cy="680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20"/>
          <p:cNvSpPr txBox="1"/>
          <p:nvPr>
            <p:ph idx="2" type="body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Divid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374904" y="1439980"/>
            <a:ext cx="859948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2000"/>
              <a:buNone/>
              <a:defRPr sz="2000">
                <a:solidFill>
                  <a:srgbClr val="797A7E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800"/>
              <a:buNone/>
              <a:defRPr sz="1800">
                <a:solidFill>
                  <a:srgbClr val="797A7E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600"/>
              <a:buFont typeface="Arial"/>
              <a:buNone/>
              <a:defRPr sz="1600">
                <a:solidFill>
                  <a:srgbClr val="797A7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Divide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374904" y="1439980"/>
            <a:ext cx="859948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2000"/>
              <a:buNone/>
              <a:defRPr sz="2000">
                <a:solidFill>
                  <a:srgbClr val="797A7E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800"/>
              <a:buNone/>
              <a:defRPr sz="1800">
                <a:solidFill>
                  <a:srgbClr val="797A7E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600"/>
              <a:buFont typeface="Arial"/>
              <a:buNone/>
              <a:defRPr sz="1600">
                <a:solidFill>
                  <a:srgbClr val="797A7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Divide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374904" y="1439980"/>
            <a:ext cx="859948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2000"/>
              <a:buNone/>
              <a:defRPr sz="2000">
                <a:solidFill>
                  <a:srgbClr val="797A7E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800"/>
              <a:buNone/>
              <a:defRPr sz="1800">
                <a:solidFill>
                  <a:srgbClr val="797A7E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97A7E"/>
              </a:buClr>
              <a:buSzPts val="1600"/>
              <a:buFont typeface="Arial"/>
              <a:buNone/>
              <a:defRPr sz="1600">
                <a:solidFill>
                  <a:srgbClr val="797A7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97A7E"/>
              </a:buClr>
              <a:buSzPts val="1600"/>
              <a:buNone/>
              <a:defRPr sz="1600">
                <a:solidFill>
                  <a:srgbClr val="797A7E"/>
                </a:solidFill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 with Picture">
  <p:cSld name="Divider 4 with Picture">
    <p:bg>
      <p:bgPr>
        <a:solidFill>
          <a:srgbClr val="F2F2F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4"/>
          <p:cNvPicPr preferRelativeResize="0"/>
          <p:nvPr/>
        </p:nvPicPr>
        <p:blipFill rotWithShape="1">
          <a:blip r:embed="rId2">
            <a:alphaModFix/>
          </a:blip>
          <a:srcRect b="1209" l="1196" r="1415" t="65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4"/>
          <p:cNvSpPr txBox="1"/>
          <p:nvPr>
            <p:ph type="title"/>
          </p:nvPr>
        </p:nvSpPr>
        <p:spPr>
          <a:xfrm>
            <a:off x="374905" y="393193"/>
            <a:ext cx="11433977" cy="94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2) and Content">
  <p:cSld name="Title (2) and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Content">
  <p:cSld name="Title, Subtitle and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2" type="body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27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2), Subtitle and Content">
  <p:cSld name="Title (2), Subtitle and Content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374904" y="1216151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Heading and Content">
  <p:cSld name="Title, Subtitle, Heading and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29"/>
          <p:cNvSpPr txBox="1"/>
          <p:nvPr>
            <p:ph idx="2" type="body"/>
          </p:nvPr>
        </p:nvSpPr>
        <p:spPr>
          <a:xfrm>
            <a:off x="374902" y="1526183"/>
            <a:ext cx="11433977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29"/>
          <p:cNvSpPr txBox="1"/>
          <p:nvPr>
            <p:ph idx="3" type="body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" type="body"/>
          </p:nvPr>
        </p:nvSpPr>
        <p:spPr>
          <a:xfrm>
            <a:off x="385100" y="1165860"/>
            <a:ext cx="5523991" cy="510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2" type="body"/>
          </p:nvPr>
        </p:nvSpPr>
        <p:spPr>
          <a:xfrm>
            <a:off x="6260021" y="1165860"/>
            <a:ext cx="5523991" cy="510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2) and Two Content">
  <p:cSld name="Title (2) and Two Conten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>
            <a:off x="374904" y="1541418"/>
            <a:ext cx="5523991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2" type="body"/>
          </p:nvPr>
        </p:nvSpPr>
        <p:spPr>
          <a:xfrm>
            <a:off x="6260021" y="1541417"/>
            <a:ext cx="5523991" cy="472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, Subtitle">
  <p:cSld name="Two Content, Sub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2" type="body"/>
          </p:nvPr>
        </p:nvSpPr>
        <p:spPr>
          <a:xfrm>
            <a:off x="374904" y="1541418"/>
            <a:ext cx="5523991" cy="473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32"/>
          <p:cNvSpPr txBox="1"/>
          <p:nvPr>
            <p:ph idx="3" type="body"/>
          </p:nvPr>
        </p:nvSpPr>
        <p:spPr>
          <a:xfrm>
            <a:off x="6260021" y="1541418"/>
            <a:ext cx="5523991" cy="473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2), Subtitle and Two Content">
  <p:cSld name="Title (2), Subtitle and Two Conten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>
            <a:off x="374904" y="1216151"/>
            <a:ext cx="11442627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2" type="body"/>
          </p:nvPr>
        </p:nvSpPr>
        <p:spPr>
          <a:xfrm>
            <a:off x="374904" y="1888132"/>
            <a:ext cx="5523991" cy="4383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3" type="body"/>
          </p:nvPr>
        </p:nvSpPr>
        <p:spPr>
          <a:xfrm>
            <a:off x="6260021" y="1888133"/>
            <a:ext cx="5523991" cy="4383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and Headings">
  <p:cSld name="Two Content and Heading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>
            <a:off x="374903" y="1129022"/>
            <a:ext cx="5523991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4"/>
          <p:cNvSpPr txBox="1"/>
          <p:nvPr>
            <p:ph idx="2" type="body"/>
          </p:nvPr>
        </p:nvSpPr>
        <p:spPr>
          <a:xfrm>
            <a:off x="374904" y="1541418"/>
            <a:ext cx="5523991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3" type="body"/>
          </p:nvPr>
        </p:nvSpPr>
        <p:spPr>
          <a:xfrm>
            <a:off x="6260399" y="1129022"/>
            <a:ext cx="5523991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D3A"/>
              </a:buClr>
              <a:buSzPts val="2000"/>
              <a:buNone/>
              <a:defRPr b="1" sz="2000"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34"/>
          <p:cNvSpPr txBox="1"/>
          <p:nvPr>
            <p:ph idx="4" type="body"/>
          </p:nvPr>
        </p:nvSpPr>
        <p:spPr>
          <a:xfrm>
            <a:off x="6260021" y="1541418"/>
            <a:ext cx="5523991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D3A"/>
              </a:buClr>
              <a:buSzPts val="1800"/>
              <a:buNone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600"/>
              <a:buChar char="—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Font typeface="Arial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4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, Subtitle and Headings">
  <p:cSld name="Two Content, Subtitle and Heading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5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5"/>
          <p:cNvSpPr txBox="1"/>
          <p:nvPr>
            <p:ph idx="2" type="body"/>
          </p:nvPr>
        </p:nvSpPr>
        <p:spPr>
          <a:xfrm>
            <a:off x="374904" y="1473135"/>
            <a:ext cx="5523991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62" name="Google Shape;162;p35"/>
          <p:cNvSpPr txBox="1"/>
          <p:nvPr>
            <p:ph idx="3" type="body"/>
          </p:nvPr>
        </p:nvSpPr>
        <p:spPr>
          <a:xfrm>
            <a:off x="374904" y="1888132"/>
            <a:ext cx="5523991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4" type="body"/>
          </p:nvPr>
        </p:nvSpPr>
        <p:spPr>
          <a:xfrm>
            <a:off x="6260021" y="1473135"/>
            <a:ext cx="5523991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35"/>
          <p:cNvSpPr txBox="1"/>
          <p:nvPr>
            <p:ph idx="5" type="body"/>
          </p:nvPr>
        </p:nvSpPr>
        <p:spPr>
          <a:xfrm>
            <a:off x="6260021" y="1888133"/>
            <a:ext cx="5523991" cy="4390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3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" type="body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36"/>
          <p:cNvSpPr txBox="1"/>
          <p:nvPr>
            <p:ph idx="2" type="body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3" type="body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6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6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2) and Three Content">
  <p:cSld name="Title (2) and Three Content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7"/>
          <p:cNvSpPr txBox="1"/>
          <p:nvPr>
            <p:ph idx="2" type="body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7"/>
          <p:cNvSpPr txBox="1"/>
          <p:nvPr>
            <p:ph idx="3" type="body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7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7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, Subtitle">
  <p:cSld name="Three Content, Subtitle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2" type="body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8"/>
          <p:cNvSpPr txBox="1"/>
          <p:nvPr>
            <p:ph idx="3" type="body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8"/>
          <p:cNvSpPr txBox="1"/>
          <p:nvPr>
            <p:ph idx="4" type="body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8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8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2), Subtitle and Three Content">
  <p:cSld name="Title (2), Subtitle and Three Content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9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9"/>
          <p:cNvSpPr txBox="1"/>
          <p:nvPr>
            <p:ph idx="1" type="body"/>
          </p:nvPr>
        </p:nvSpPr>
        <p:spPr>
          <a:xfrm>
            <a:off x="374904" y="1216151"/>
            <a:ext cx="11442626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9"/>
          <p:cNvSpPr txBox="1"/>
          <p:nvPr>
            <p:ph idx="2" type="body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9"/>
          <p:cNvSpPr txBox="1"/>
          <p:nvPr>
            <p:ph idx="3" type="body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9"/>
          <p:cNvSpPr txBox="1"/>
          <p:nvPr>
            <p:ph idx="4" type="body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9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9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and Headings">
  <p:cSld name="Three Content and Heading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 txBox="1"/>
          <p:nvPr>
            <p:ph type="title"/>
          </p:nvPr>
        </p:nvSpPr>
        <p:spPr>
          <a:xfrm>
            <a:off x="374903" y="393192"/>
            <a:ext cx="11442627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0"/>
          <p:cNvSpPr txBox="1"/>
          <p:nvPr>
            <p:ph idx="1" type="body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00" name="Google Shape;200;p40"/>
          <p:cNvSpPr txBox="1"/>
          <p:nvPr>
            <p:ph idx="2" type="body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40"/>
          <p:cNvSpPr txBox="1"/>
          <p:nvPr>
            <p:ph idx="3" type="body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02" name="Google Shape;202;p40"/>
          <p:cNvSpPr txBox="1"/>
          <p:nvPr>
            <p:ph idx="4" type="body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40"/>
          <p:cNvSpPr txBox="1"/>
          <p:nvPr>
            <p:ph idx="5" type="body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04" name="Google Shape;204;p40"/>
          <p:cNvSpPr txBox="1"/>
          <p:nvPr>
            <p:ph idx="6" type="body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0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0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, Subtitle and Headings">
  <p:cSld name="Three Content, Subtitle and Headings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1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41"/>
          <p:cNvSpPr txBox="1"/>
          <p:nvPr>
            <p:ph idx="2" type="body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11" name="Google Shape;211;p41"/>
          <p:cNvSpPr txBox="1"/>
          <p:nvPr>
            <p:ph idx="3" type="body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41"/>
          <p:cNvSpPr txBox="1"/>
          <p:nvPr>
            <p:ph idx="4" type="body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13" name="Google Shape;213;p41"/>
          <p:cNvSpPr txBox="1"/>
          <p:nvPr>
            <p:ph idx="5" type="body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1"/>
          <p:cNvSpPr txBox="1"/>
          <p:nvPr>
            <p:ph idx="6" type="body"/>
          </p:nvPr>
        </p:nvSpPr>
        <p:spPr>
          <a:xfrm>
            <a:off x="8146122" y="1499258"/>
            <a:ext cx="3631039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41"/>
          <p:cNvSpPr txBox="1"/>
          <p:nvPr>
            <p:ph idx="7" type="body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41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1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, 2 Line">
  <p:cSld name="Title Only, 2 Line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3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4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4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4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, 2 Line">
  <p:cSld name="Title and Subtitle, 2 Line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type="title"/>
          </p:nvPr>
        </p:nvSpPr>
        <p:spPr>
          <a:xfrm>
            <a:off x="374904" y="393192"/>
            <a:ext cx="11442627" cy="775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45"/>
          <p:cNvSpPr txBox="1"/>
          <p:nvPr>
            <p:ph idx="1" type="body"/>
          </p:nvPr>
        </p:nvSpPr>
        <p:spPr>
          <a:xfrm>
            <a:off x="374904" y="1216151"/>
            <a:ext cx="11442626" cy="369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4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ontent">
  <p:cSld name="Picture with Conte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6"/>
          <p:cNvSpPr/>
          <p:nvPr>
            <p:ph idx="2" type="pic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46"/>
          <p:cNvSpPr txBox="1"/>
          <p:nvPr>
            <p:ph idx="1" type="body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46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6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ictures with Text">
  <p:cSld name="Two Pictures with 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7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7"/>
          <p:cNvSpPr/>
          <p:nvPr>
            <p:ph idx="2" type="pic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47"/>
          <p:cNvSpPr txBox="1"/>
          <p:nvPr>
            <p:ph idx="1" type="body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47"/>
          <p:cNvSpPr/>
          <p:nvPr>
            <p:ph idx="3" type="pic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47"/>
          <p:cNvSpPr txBox="1"/>
          <p:nvPr>
            <p:ph idx="4" type="body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47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7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ictures with Text">
  <p:cSld name="Three Pictures with 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8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8"/>
          <p:cNvSpPr/>
          <p:nvPr>
            <p:ph idx="2" type="pic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8"/>
          <p:cNvSpPr txBox="1"/>
          <p:nvPr>
            <p:ph idx="1" type="body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48"/>
          <p:cNvSpPr/>
          <p:nvPr>
            <p:ph idx="3" type="pic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8"/>
          <p:cNvSpPr txBox="1"/>
          <p:nvPr>
            <p:ph idx="4" type="body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48"/>
          <p:cNvSpPr/>
          <p:nvPr>
            <p:ph idx="5" type="pic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48"/>
          <p:cNvSpPr txBox="1"/>
          <p:nvPr>
            <p:ph idx="6" type="body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48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8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purpose">
  <p:cSld name="Multipurpose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>
            <p:ph type="title"/>
          </p:nvPr>
        </p:nvSpPr>
        <p:spPr>
          <a:xfrm>
            <a:off x="374904" y="393192"/>
            <a:ext cx="11433978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D3A"/>
              </a:buClr>
              <a:buSzPts val="3000"/>
              <a:buFont typeface="Arial"/>
              <a:buNone/>
              <a:defRPr sz="3000">
                <a:solidFill>
                  <a:srgbClr val="292D3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9"/>
          <p:cNvSpPr txBox="1"/>
          <p:nvPr>
            <p:ph idx="1" type="body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D3A"/>
              </a:buClr>
              <a:buSzPts val="2000"/>
              <a:buFont typeface="Arial"/>
              <a:buNone/>
              <a:defRPr sz="2000"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49"/>
          <p:cNvSpPr txBox="1"/>
          <p:nvPr>
            <p:ph idx="2" type="body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D3A"/>
              </a:buClr>
              <a:buSzPts val="1800"/>
              <a:buNone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600"/>
              <a:buChar char="—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Font typeface="Arial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4" name="Google Shape;264;p49"/>
          <p:cNvSpPr txBox="1"/>
          <p:nvPr>
            <p:ph idx="3" type="body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D3A"/>
              </a:buClr>
              <a:buSzPts val="1800"/>
              <a:buNone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600"/>
              <a:buChar char="—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92D3A"/>
              </a:buClr>
              <a:buSzPts val="1400"/>
              <a:buFont typeface="Arial"/>
              <a:buChar char="•"/>
              <a:defRPr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49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9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Picture and Data">
  <p:cSld name="Title, Content, Picture and Data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0"/>
          <p:cNvSpPr txBox="1"/>
          <p:nvPr>
            <p:ph type="title"/>
          </p:nvPr>
        </p:nvSpPr>
        <p:spPr>
          <a:xfrm>
            <a:off x="374904" y="393192"/>
            <a:ext cx="3462615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50"/>
          <p:cNvSpPr txBox="1"/>
          <p:nvPr>
            <p:ph idx="1" type="body"/>
          </p:nvPr>
        </p:nvSpPr>
        <p:spPr>
          <a:xfrm>
            <a:off x="374905" y="1541418"/>
            <a:ext cx="3462613" cy="4729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—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50"/>
          <p:cNvSpPr/>
          <p:nvPr>
            <p:ph idx="2" type="pic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71" name="Google Shape;271;p50"/>
          <p:cNvSpPr txBox="1"/>
          <p:nvPr>
            <p:ph idx="3" type="body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>
            <a:gsLst>
              <a:gs pos="0">
                <a:srgbClr val="05CC93"/>
              </a:gs>
              <a:gs pos="14000">
                <a:srgbClr val="05CC93"/>
              </a:gs>
              <a:gs pos="39000">
                <a:srgbClr val="05CC93">
                  <a:alpha val="80392"/>
                </a:srgbClr>
              </a:gs>
              <a:gs pos="8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182875" lIns="274300" spcFirstLastPara="1" rIns="182875" wrap="square" tIns="2743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—"/>
              <a:defRPr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50"/>
          <p:cNvSpPr txBox="1"/>
          <p:nvPr>
            <p:ph idx="4" type="body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50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50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showMasterSp="0">
  <p:cSld name="Empty"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dge-To-Edge Picture" showMasterSp="0">
  <p:cSld name="Edge-To-Edge Picture">
    <p:bg>
      <p:bgPr>
        <a:solidFill>
          <a:srgbClr val="F2F2F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5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Quote or Statement 1">
  <p:cSld name="Text, Quote or Statemen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3"/>
          <p:cNvSpPr txBox="1"/>
          <p:nvPr>
            <p:ph type="title"/>
          </p:nvPr>
        </p:nvSpPr>
        <p:spPr>
          <a:xfrm>
            <a:off x="374904" y="2300224"/>
            <a:ext cx="10098780" cy="84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5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Quote or Statement 2">
  <p:cSld name="Text, Quote or Statement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 txBox="1"/>
          <p:nvPr>
            <p:ph type="title"/>
          </p:nvPr>
        </p:nvSpPr>
        <p:spPr>
          <a:xfrm>
            <a:off x="374904" y="2304615"/>
            <a:ext cx="9416520" cy="2306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b="0" i="0" sz="55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4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54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Quote or Statement 3">
  <p:cSld name="Text, Quote or Statement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5"/>
          <p:cNvSpPr txBox="1"/>
          <p:nvPr>
            <p:ph type="title"/>
          </p:nvPr>
        </p:nvSpPr>
        <p:spPr>
          <a:xfrm>
            <a:off x="374904" y="2300224"/>
            <a:ext cx="10098780" cy="84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Quote or Statement 4">
  <p:cSld name="Text, Quote or Statement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/>
          <p:nvPr>
            <p:ph type="title"/>
          </p:nvPr>
        </p:nvSpPr>
        <p:spPr>
          <a:xfrm>
            <a:off x="374904" y="2304288"/>
            <a:ext cx="9457413" cy="2304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b="0" i="0" sz="5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56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6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Quote or Statement 5">
  <p:cSld name="Text, Quote or Statement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7"/>
          <p:cNvSpPr txBox="1"/>
          <p:nvPr>
            <p:ph type="title"/>
          </p:nvPr>
        </p:nvSpPr>
        <p:spPr>
          <a:xfrm>
            <a:off x="7747254" y="374650"/>
            <a:ext cx="4062159" cy="3553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7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7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, Quote or Statement 6">
  <p:cSld name="Text, Quote or Statement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8"/>
          <p:cNvSpPr txBox="1"/>
          <p:nvPr>
            <p:ph type="title"/>
          </p:nvPr>
        </p:nvSpPr>
        <p:spPr>
          <a:xfrm>
            <a:off x="374904" y="2304289"/>
            <a:ext cx="5676900" cy="3747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b="0" i="0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58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58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Light Picture">
  <p:cSld name="Thank you with Light Picture">
    <p:bg>
      <p:bgPr>
        <a:solidFill>
          <a:srgbClr val="F2F2F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grey gradient&#10;&#10;AI-generated content may be incorrect." id="305" name="Google Shape;30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368339"/>
            <a:ext cx="1081950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9"/>
          <p:cNvSpPr txBox="1"/>
          <p:nvPr>
            <p:ph type="title"/>
          </p:nvPr>
        </p:nvSpPr>
        <p:spPr>
          <a:xfrm>
            <a:off x="374903" y="2449576"/>
            <a:ext cx="9359900" cy="8758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9"/>
          <p:cNvSpPr txBox="1"/>
          <p:nvPr>
            <p:ph idx="1" type="body"/>
          </p:nvPr>
        </p:nvSpPr>
        <p:spPr>
          <a:xfrm>
            <a:off x="383432" y="3392391"/>
            <a:ext cx="9359900" cy="876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59"/>
          <p:cNvSpPr txBox="1"/>
          <p:nvPr>
            <p:ph idx="11" type="ftr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9"/>
          <p:cNvSpPr txBox="1"/>
          <p:nvPr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2026 Hewlett Packard Enterprise Development LP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with Dark Picture">
  <p:cSld name="Thank you with Dark Picture">
    <p:bg>
      <p:bgPr>
        <a:solidFill>
          <a:srgbClr val="383F5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grey gradient&#10;&#10;AI-generated content may be incorrect." id="311" name="Google Shape;311;p60"/>
          <p:cNvPicPr preferRelativeResize="0"/>
          <p:nvPr/>
        </p:nvPicPr>
        <p:blipFill rotWithShape="1">
          <a:blip r:embed="rId2">
            <a:alphaModFix amt="85000"/>
          </a:blip>
          <a:srcRect b="0" l="0" r="0" t="0"/>
          <a:stretch/>
        </p:blipFill>
        <p:spPr>
          <a:xfrm>
            <a:off x="0" y="1371600"/>
            <a:ext cx="1081950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0"/>
          <p:cNvSpPr txBox="1"/>
          <p:nvPr>
            <p:ph type="title"/>
          </p:nvPr>
        </p:nvSpPr>
        <p:spPr>
          <a:xfrm>
            <a:off x="374903" y="2449576"/>
            <a:ext cx="9359900" cy="8758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Arial"/>
              <a:buNone/>
              <a:defRPr sz="5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60"/>
          <p:cNvSpPr txBox="1"/>
          <p:nvPr>
            <p:ph idx="1" type="body"/>
          </p:nvPr>
        </p:nvSpPr>
        <p:spPr>
          <a:xfrm>
            <a:off x="383433" y="3392391"/>
            <a:ext cx="9359900" cy="876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4" name="Google Shape;314;p60"/>
          <p:cNvSpPr txBox="1"/>
          <p:nvPr>
            <p:ph idx="11" type="ftr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60"/>
          <p:cNvSpPr txBox="1"/>
          <p:nvPr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Hewlett Packard Enterprise Development LP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7" y="388784"/>
            <a:ext cx="1019648" cy="29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61"/>
          <p:cNvSpPr txBox="1"/>
          <p:nvPr>
            <p:ph type="title"/>
          </p:nvPr>
        </p:nvSpPr>
        <p:spPr>
          <a:xfrm>
            <a:off x="374904" y="1869197"/>
            <a:ext cx="1142355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61"/>
          <p:cNvSpPr txBox="1"/>
          <p:nvPr>
            <p:ph idx="1" type="subTitle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0" name="Google Shape;320;p61"/>
          <p:cNvSpPr txBox="1"/>
          <p:nvPr>
            <p:ph idx="2" type="body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1" name="Google Shape;321;p61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61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ark Picture" showMasterSp="0">
  <p:cSld name="Title Slide with Dark Picture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62"/>
          <p:cNvSpPr txBox="1"/>
          <p:nvPr>
            <p:ph type="title"/>
          </p:nvPr>
        </p:nvSpPr>
        <p:spPr>
          <a:xfrm>
            <a:off x="374904" y="1869197"/>
            <a:ext cx="1142355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62"/>
          <p:cNvSpPr txBox="1"/>
          <p:nvPr>
            <p:ph idx="1" type="subTitle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7" name="Google Shape;327;p62"/>
          <p:cNvSpPr txBox="1"/>
          <p:nvPr>
            <p:ph idx="2" type="body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8" name="Google Shape;328;p6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6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Light Picture" showMasterSp="0">
  <p:cSld name="Title Slide with Light Picture"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07" y="388784"/>
            <a:ext cx="1019648" cy="29132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3"/>
          <p:cNvSpPr txBox="1"/>
          <p:nvPr>
            <p:ph type="title"/>
          </p:nvPr>
        </p:nvSpPr>
        <p:spPr>
          <a:xfrm>
            <a:off x="374904" y="1869197"/>
            <a:ext cx="1142355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92D3A"/>
              </a:buClr>
              <a:buSzPts val="4800"/>
              <a:buFont typeface="Arial"/>
              <a:buNone/>
              <a:defRPr sz="4800">
                <a:solidFill>
                  <a:srgbClr val="292D3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63"/>
          <p:cNvSpPr txBox="1"/>
          <p:nvPr>
            <p:ph idx="1" type="subTitle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A"/>
              </a:buClr>
              <a:buSzPts val="2000"/>
              <a:buNone/>
              <a:defRPr sz="2000"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4" name="Google Shape;334;p63"/>
          <p:cNvSpPr txBox="1"/>
          <p:nvPr>
            <p:ph idx="2" type="body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D3A"/>
              </a:buClr>
              <a:buSzPts val="1600"/>
              <a:buNone/>
              <a:defRPr sz="1600">
                <a:solidFill>
                  <a:srgbClr val="292D3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6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4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64"/>
          <p:cNvSpPr txBox="1"/>
          <p:nvPr>
            <p:ph idx="1" type="body"/>
          </p:nvPr>
        </p:nvSpPr>
        <p:spPr>
          <a:xfrm>
            <a:off x="413999" y="1071223"/>
            <a:ext cx="11365200" cy="630000"/>
          </a:xfrm>
          <a:prstGeom prst="rect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0000" spcFirstLastPara="1" rIns="270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0" name="Google Shape;340;p64"/>
          <p:cNvSpPr txBox="1"/>
          <p:nvPr>
            <p:ph idx="2" type="body"/>
          </p:nvPr>
        </p:nvSpPr>
        <p:spPr>
          <a:xfrm>
            <a:off x="413999" y="1931284"/>
            <a:ext cx="11365200" cy="630000"/>
          </a:xfrm>
          <a:prstGeom prst="rect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0000" spcFirstLastPara="1" rIns="270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64"/>
          <p:cNvSpPr txBox="1"/>
          <p:nvPr>
            <p:ph idx="3" type="body"/>
          </p:nvPr>
        </p:nvSpPr>
        <p:spPr>
          <a:xfrm>
            <a:off x="413999" y="2791345"/>
            <a:ext cx="11365200" cy="630000"/>
          </a:xfrm>
          <a:prstGeom prst="rect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0000" spcFirstLastPara="1" rIns="270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64"/>
          <p:cNvSpPr txBox="1"/>
          <p:nvPr>
            <p:ph idx="4" type="body"/>
          </p:nvPr>
        </p:nvSpPr>
        <p:spPr>
          <a:xfrm>
            <a:off x="413999" y="3651406"/>
            <a:ext cx="11365200" cy="630000"/>
          </a:xfrm>
          <a:prstGeom prst="rect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0000" spcFirstLastPara="1" rIns="270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64"/>
          <p:cNvSpPr txBox="1"/>
          <p:nvPr>
            <p:ph idx="5" type="body"/>
          </p:nvPr>
        </p:nvSpPr>
        <p:spPr>
          <a:xfrm>
            <a:off x="413999" y="4511467"/>
            <a:ext cx="11365200" cy="630000"/>
          </a:xfrm>
          <a:prstGeom prst="rect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0000" spcFirstLastPara="1" rIns="270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64"/>
          <p:cNvSpPr txBox="1"/>
          <p:nvPr>
            <p:ph idx="6" type="body"/>
          </p:nvPr>
        </p:nvSpPr>
        <p:spPr>
          <a:xfrm>
            <a:off x="413999" y="5371526"/>
            <a:ext cx="11365200" cy="630000"/>
          </a:xfrm>
          <a:prstGeom prst="rect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0000" spcFirstLastPara="1" rIns="2700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—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5" name="Google Shape;345;p64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64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5"/>
          <p:cNvSpPr txBox="1"/>
          <p:nvPr>
            <p:ph type="title"/>
          </p:nvPr>
        </p:nvSpPr>
        <p:spPr>
          <a:xfrm>
            <a:off x="284398" y="1386402"/>
            <a:ext cx="7518482" cy="408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65"/>
          <p:cNvSpPr txBox="1"/>
          <p:nvPr>
            <p:ph idx="1" type="body"/>
          </p:nvPr>
        </p:nvSpPr>
        <p:spPr>
          <a:xfrm>
            <a:off x="550866" y="5471598"/>
            <a:ext cx="822801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9pPr>
          </a:lstStyle>
          <a:p/>
        </p:txBody>
      </p:sp>
      <p:sp>
        <p:nvSpPr>
          <p:cNvPr id="350" name="Google Shape;350;p6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6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/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1"/>
          <p:cNvSpPr txBox="1"/>
          <p:nvPr>
            <p:ph idx="1" type="body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" name="Google Shape;11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flipH="1" rot="10800000">
            <a:off x="374651" y="6402311"/>
            <a:ext cx="527812" cy="150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github.com/OneRandom1509/HPE-distributed-key-value-store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"/>
          <p:cNvSpPr txBox="1"/>
          <p:nvPr>
            <p:ph type="ctrTitle"/>
          </p:nvPr>
        </p:nvSpPr>
        <p:spPr>
          <a:xfrm>
            <a:off x="374903" y="1813791"/>
            <a:ext cx="10012359" cy="1577109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0" spcFirstLastPara="1" rIns="0" wrap="square" tIns="469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FY-26: Career Preview Program </a:t>
            </a:r>
            <a:br>
              <a:rPr lang="en-US"/>
            </a:br>
            <a:r>
              <a:rPr lang="en-US"/>
              <a:t>               project Review  (CPP-3)</a:t>
            </a:r>
            <a:endParaRPr/>
          </a:p>
        </p:txBody>
      </p:sp>
      <p:sp>
        <p:nvSpPr>
          <p:cNvPr id="360" name="Google Shape;360;p1"/>
          <p:cNvSpPr txBox="1"/>
          <p:nvPr>
            <p:ph idx="1" type="subTitle"/>
          </p:nvPr>
        </p:nvSpPr>
        <p:spPr>
          <a:xfrm>
            <a:off x="374902" y="4583847"/>
            <a:ext cx="10012359" cy="4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Updated June 2026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61" name="Google Shape;361;p1"/>
          <p:cNvSpPr txBox="1"/>
          <p:nvPr>
            <p:ph idx="2" type="body"/>
          </p:nvPr>
        </p:nvSpPr>
        <p:spPr>
          <a:xfrm>
            <a:off x="374903" y="5193065"/>
            <a:ext cx="100123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College /University Name: Vellore Institute of Technology, Chennai Campus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62" name="Google Shape;362;p1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363" name="Google Shape;363;p1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"/>
          <p:cNvSpPr/>
          <p:nvPr/>
        </p:nvSpPr>
        <p:spPr>
          <a:xfrm>
            <a:off x="719831" y="535284"/>
            <a:ext cx="1624219" cy="317102"/>
          </a:xfrm>
          <a:prstGeom prst="roundRect">
            <a:avLst>
              <a:gd fmla="val 6704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"/>
          <p:cNvSpPr/>
          <p:nvPr/>
        </p:nvSpPr>
        <p:spPr>
          <a:xfrm>
            <a:off x="826095" y="588366"/>
            <a:ext cx="1801911" cy="210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OVERVIEW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"/>
          <p:cNvSpPr/>
          <p:nvPr/>
        </p:nvSpPr>
        <p:spPr>
          <a:xfrm>
            <a:off x="719831" y="922138"/>
            <a:ext cx="7056536" cy="503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Montserrat"/>
              <a:buNone/>
            </a:pPr>
            <a:r>
              <a:rPr b="1" i="0" lang="en-US" sz="3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Participants &amp; Mentors</a:t>
            </a:r>
            <a:endParaRPr b="0" i="0" sz="3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"/>
          <p:cNvSpPr/>
          <p:nvPr/>
        </p:nvSpPr>
        <p:spPr>
          <a:xfrm>
            <a:off x="592236" y="1686915"/>
            <a:ext cx="5974457" cy="4635697"/>
          </a:xfrm>
          <a:prstGeom prst="roundRect">
            <a:avLst>
              <a:gd fmla="val 573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"/>
          <p:cNvSpPr/>
          <p:nvPr/>
        </p:nvSpPr>
        <p:spPr>
          <a:xfrm>
            <a:off x="769341" y="1861245"/>
            <a:ext cx="2651621" cy="251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ontserrat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College / University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"/>
          <p:cNvSpPr/>
          <p:nvPr/>
        </p:nvSpPr>
        <p:spPr>
          <a:xfrm>
            <a:off x="769341" y="2287190"/>
            <a:ext cx="622984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Vellore Institute of Technology, Chennai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"/>
          <p:cNvSpPr/>
          <p:nvPr/>
        </p:nvSpPr>
        <p:spPr>
          <a:xfrm>
            <a:off x="769341" y="2791320"/>
            <a:ext cx="5620245" cy="19049"/>
          </a:xfrm>
          <a:prstGeom prst="roundRect">
            <a:avLst>
              <a:gd fmla="val 59999" name="adj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"/>
          <p:cNvSpPr/>
          <p:nvPr/>
        </p:nvSpPr>
        <p:spPr>
          <a:xfrm>
            <a:off x="769341" y="3050777"/>
            <a:ext cx="2622847" cy="251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ontserrat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HPE Mentors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"/>
          <p:cNvSpPr/>
          <p:nvPr/>
        </p:nvSpPr>
        <p:spPr>
          <a:xfrm>
            <a:off x="769341" y="3476723"/>
            <a:ext cx="5620245" cy="913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4320" lvl="0" marL="27432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urce Sans 3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Chinmay Ghosh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urce Sans 3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Porno Shome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urce Sans 3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Shreyas Vinayaka Basri K 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"/>
          <p:cNvSpPr/>
          <p:nvPr/>
        </p:nvSpPr>
        <p:spPr>
          <a:xfrm>
            <a:off x="769341" y="4630340"/>
            <a:ext cx="5620245" cy="19049"/>
          </a:xfrm>
          <a:prstGeom prst="roundRect">
            <a:avLst>
              <a:gd fmla="val 59999" name="adj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"/>
          <p:cNvSpPr/>
          <p:nvPr/>
        </p:nvSpPr>
        <p:spPr>
          <a:xfrm>
            <a:off x="769341" y="4889797"/>
            <a:ext cx="2622847" cy="251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Montserrat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College Mentor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"/>
          <p:cNvSpPr/>
          <p:nvPr/>
        </p:nvSpPr>
        <p:spPr>
          <a:xfrm>
            <a:off x="769341" y="5315743"/>
            <a:ext cx="622984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Dr. Suganya G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"/>
          <p:cNvSpPr/>
          <p:nvPr/>
        </p:nvSpPr>
        <p:spPr>
          <a:xfrm>
            <a:off x="6877644" y="1861245"/>
            <a:ext cx="2703512" cy="251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Montserrat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Participants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"/>
          <p:cNvSpPr/>
          <p:nvPr/>
        </p:nvSpPr>
        <p:spPr>
          <a:xfrm>
            <a:off x="7054750" y="2419944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1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23BCE1397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"/>
          <p:cNvSpPr/>
          <p:nvPr/>
        </p:nvSpPr>
        <p:spPr>
          <a:xfrm>
            <a:off x="9355137" y="2419944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Ananta Krishnan B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"/>
          <p:cNvSpPr/>
          <p:nvPr/>
        </p:nvSpPr>
        <p:spPr>
          <a:xfrm>
            <a:off x="7054750" y="2905521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1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23BCE1265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"/>
          <p:cNvSpPr/>
          <p:nvPr/>
        </p:nvSpPr>
        <p:spPr>
          <a:xfrm>
            <a:off x="9355137" y="2905521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Kanad Bhattacharya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"/>
          <p:cNvSpPr/>
          <p:nvPr/>
        </p:nvSpPr>
        <p:spPr>
          <a:xfrm>
            <a:off x="7054750" y="3391097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1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23BCE1554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"/>
          <p:cNvSpPr/>
          <p:nvPr/>
        </p:nvSpPr>
        <p:spPr>
          <a:xfrm>
            <a:off x="9355137" y="3391097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Priyanshu Kumar Jha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"/>
          <p:cNvSpPr/>
          <p:nvPr/>
        </p:nvSpPr>
        <p:spPr>
          <a:xfrm>
            <a:off x="7054750" y="3876674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1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23BAI1190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"/>
          <p:cNvSpPr/>
          <p:nvPr/>
        </p:nvSpPr>
        <p:spPr>
          <a:xfrm>
            <a:off x="9355137" y="3876674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Samar Singh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"/>
          <p:cNvSpPr/>
          <p:nvPr/>
        </p:nvSpPr>
        <p:spPr>
          <a:xfrm>
            <a:off x="7054750" y="4362251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1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23BAI1107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"/>
          <p:cNvSpPr/>
          <p:nvPr/>
        </p:nvSpPr>
        <p:spPr>
          <a:xfrm>
            <a:off x="9355137" y="4362251"/>
            <a:ext cx="2555775" cy="26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Mishthi Jain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"/>
          <p:cNvSpPr/>
          <p:nvPr/>
        </p:nvSpPr>
        <p:spPr>
          <a:xfrm>
            <a:off x="6877644" y="5315743"/>
            <a:ext cx="4411893" cy="810715"/>
          </a:xfrm>
          <a:prstGeom prst="roundRect">
            <a:avLst>
              <a:gd fmla="val 2227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"/>
          <p:cNvSpPr/>
          <p:nvPr/>
        </p:nvSpPr>
        <p:spPr>
          <a:xfrm>
            <a:off x="8190243" y="5579466"/>
            <a:ext cx="1786697" cy="31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Source Sans 3"/>
              <a:buNone/>
            </a:pPr>
            <a:r>
              <a:rPr b="0" i="0" lang="en-US" sz="1350" u="sng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Repository Link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395" name="Google Shape;395;p2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"/>
          <p:cNvSpPr/>
          <p:nvPr/>
        </p:nvSpPr>
        <p:spPr>
          <a:xfrm>
            <a:off x="719831" y="1115912"/>
            <a:ext cx="1165721" cy="323849"/>
          </a:xfrm>
          <a:prstGeom prst="roundRect">
            <a:avLst>
              <a:gd fmla="val 6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2E34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"/>
          <p:cNvSpPr/>
          <p:nvPr/>
        </p:nvSpPr>
        <p:spPr>
          <a:xfrm>
            <a:off x="827781" y="1169887"/>
            <a:ext cx="1559421" cy="21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INTRODUCTION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"/>
          <p:cNvSpPr/>
          <p:nvPr/>
        </p:nvSpPr>
        <p:spPr>
          <a:xfrm>
            <a:off x="719831" y="1511696"/>
            <a:ext cx="8244086" cy="51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Why a Distributed Key-Value Store?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"/>
          <p:cNvSpPr/>
          <p:nvPr/>
        </p:nvSpPr>
        <p:spPr>
          <a:xfrm>
            <a:off x="719831" y="2292845"/>
            <a:ext cx="10752336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 data volume and client request rates grow, a single server becomes a performance bottleneck. Distributing data across multiple nodes improves throughput, reduces latency, and maintains availability during failures.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5" name="Google Shape;4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31" y="3035200"/>
            <a:ext cx="449858" cy="44985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"/>
          <p:cNvSpPr/>
          <p:nvPr/>
        </p:nvSpPr>
        <p:spPr>
          <a:xfrm>
            <a:off x="1394618" y="3035200"/>
            <a:ext cx="2153741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Distributed Caching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"/>
          <p:cNvSpPr/>
          <p:nvPr/>
        </p:nvSpPr>
        <p:spPr>
          <a:xfrm>
            <a:off x="1394618" y="3398737"/>
            <a:ext cx="2759373" cy="8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Reduces latency by serving frequently accessed data from memory across the cluster.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08" name="Google Shape;4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8920" y="3035200"/>
            <a:ext cx="449858" cy="44985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"/>
          <p:cNvSpPr/>
          <p:nvPr/>
        </p:nvSpPr>
        <p:spPr>
          <a:xfrm>
            <a:off x="5053707" y="3035200"/>
            <a:ext cx="2306835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Session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"/>
          <p:cNvSpPr/>
          <p:nvPr/>
        </p:nvSpPr>
        <p:spPr>
          <a:xfrm>
            <a:off x="5053707" y="3398737"/>
            <a:ext cx="2759373" cy="8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Persists user sessions across service instances for stateless, horizontally scalable applications.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1" name="Google Shape;4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8009" y="3035200"/>
            <a:ext cx="449858" cy="449857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"/>
          <p:cNvSpPr/>
          <p:nvPr/>
        </p:nvSpPr>
        <p:spPr>
          <a:xfrm>
            <a:off x="8712794" y="3035200"/>
            <a:ext cx="20451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Metadata Storage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"/>
          <p:cNvSpPr/>
          <p:nvPr/>
        </p:nvSpPr>
        <p:spPr>
          <a:xfrm>
            <a:off x="8712794" y="3398737"/>
            <a:ext cx="2759373" cy="8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Stores configuration and system metadata with low-latency, high-availability access.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4" name="Google Shape;41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831" y="4568526"/>
            <a:ext cx="449858" cy="44985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"/>
          <p:cNvSpPr/>
          <p:nvPr/>
        </p:nvSpPr>
        <p:spPr>
          <a:xfrm>
            <a:off x="1394618" y="4568526"/>
            <a:ext cx="20451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Service Discovery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"/>
          <p:cNvSpPr/>
          <p:nvPr/>
        </p:nvSpPr>
        <p:spPr>
          <a:xfrm>
            <a:off x="1394618" y="4932064"/>
            <a:ext cx="2759373" cy="8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Enables dynamic registration and lookup of microservices in cloud-native environments.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7" name="Google Shape;41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78920" y="4568526"/>
            <a:ext cx="449858" cy="449857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"/>
          <p:cNvSpPr/>
          <p:nvPr/>
        </p:nvSpPr>
        <p:spPr>
          <a:xfrm>
            <a:off x="5053707" y="4568526"/>
            <a:ext cx="2467867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Message &amp; Job Queues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"/>
          <p:cNvSpPr/>
          <p:nvPr/>
        </p:nvSpPr>
        <p:spPr>
          <a:xfrm>
            <a:off x="5053707" y="4932064"/>
            <a:ext cx="2759373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Manages asynchronous task queues and inter-service messaging at scale.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421" name="Google Shape;421;p3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"/>
          <p:cNvSpPr/>
          <p:nvPr/>
        </p:nvSpPr>
        <p:spPr>
          <a:xfrm>
            <a:off x="719831" y="1083964"/>
            <a:ext cx="1557535" cy="323849"/>
          </a:xfrm>
          <a:prstGeom prst="roundRect">
            <a:avLst>
              <a:gd fmla="val 6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2E34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"/>
          <p:cNvSpPr/>
          <p:nvPr/>
        </p:nvSpPr>
        <p:spPr>
          <a:xfrm>
            <a:off x="827781" y="1137939"/>
            <a:ext cx="1951235" cy="21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PROBLEM STATEMENT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"/>
          <p:cNvSpPr/>
          <p:nvPr/>
        </p:nvSpPr>
        <p:spPr>
          <a:xfrm>
            <a:off x="719831" y="1479747"/>
            <a:ext cx="9815314" cy="51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the Original Implementation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"/>
          <p:cNvSpPr/>
          <p:nvPr/>
        </p:nvSpPr>
        <p:spPr>
          <a:xfrm>
            <a:off x="719831" y="2260897"/>
            <a:ext cx="11361936" cy="282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original system uses </a:t>
            </a:r>
            <a:r>
              <a:rPr b="0" i="0" lang="en-US" sz="1400" u="none" cap="none" strike="noStrike">
                <a:solidFill>
                  <a:srgbClr val="3D3838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key % N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modulo hashing, creating three critical weaknesses that prevent production-grade deployment.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1" name="Google Shape;4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31" y="2745977"/>
            <a:ext cx="3464122" cy="18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"/>
          <p:cNvSpPr/>
          <p:nvPr/>
        </p:nvSpPr>
        <p:spPr>
          <a:xfrm>
            <a:off x="1026715" y="2951262"/>
            <a:ext cx="2898079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Inefficient Key Distribution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"/>
          <p:cNvSpPr/>
          <p:nvPr/>
        </p:nvSpPr>
        <p:spPr>
          <a:xfrm>
            <a:off x="1026715" y="3314799"/>
            <a:ext cx="2951955" cy="107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Adding or removing a node redistributes a large percentage of keys with no migration mechanism, causing service disruption during scaling.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4" name="Google Shape;4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3839" y="2745977"/>
            <a:ext cx="3464222" cy="18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"/>
          <p:cNvSpPr/>
          <p:nvPr/>
        </p:nvSpPr>
        <p:spPr>
          <a:xfrm>
            <a:off x="4670722" y="2951262"/>
            <a:ext cx="20451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No Fault Tolerance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"/>
          <p:cNvSpPr/>
          <p:nvPr/>
        </p:nvSpPr>
        <p:spPr>
          <a:xfrm>
            <a:off x="4670722" y="3314799"/>
            <a:ext cx="2952055" cy="107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key exists on only one node. A single node failure makes its data completely unavailable until manual recovery.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37" name="Google Shape;4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7945" y="2745977"/>
            <a:ext cx="3464222" cy="18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"/>
          <p:cNvSpPr/>
          <p:nvPr/>
        </p:nvSpPr>
        <p:spPr>
          <a:xfrm>
            <a:off x="8314828" y="2951262"/>
            <a:ext cx="2838647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Static Cluster Membership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"/>
          <p:cNvSpPr/>
          <p:nvPr/>
        </p:nvSpPr>
        <p:spPr>
          <a:xfrm>
            <a:off x="8314828" y="3314799"/>
            <a:ext cx="2952055" cy="107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relies on a static configuration file and cannot automatically detect node joins or failures.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"/>
          <p:cNvSpPr/>
          <p:nvPr/>
        </p:nvSpPr>
        <p:spPr>
          <a:xfrm>
            <a:off x="719831" y="4802385"/>
            <a:ext cx="10752336" cy="971649"/>
          </a:xfrm>
          <a:prstGeom prst="roundRect">
            <a:avLst>
              <a:gd fmla="val 2778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715" y="5047554"/>
            <a:ext cx="224928" cy="17988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"/>
          <p:cNvSpPr/>
          <p:nvPr/>
        </p:nvSpPr>
        <p:spPr>
          <a:xfrm>
            <a:off x="1304527" y="5027215"/>
            <a:ext cx="9987755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Objective: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Replace modulo hashing with a </a:t>
            </a:r>
            <a:r>
              <a:rPr b="1" i="0" lang="en-US" sz="1400" u="none" cap="none" strike="noStrike">
                <a:solidFill>
                  <a:srgbClr val="2E7D3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Hash Ring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so node changes redistribute only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1/N of total keys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while enabling a fault-tolerant, dynamically managed cluster.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444" name="Google Shape;444;p4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"/>
          <p:cNvSpPr/>
          <p:nvPr/>
        </p:nvSpPr>
        <p:spPr>
          <a:xfrm>
            <a:off x="719831" y="1072851"/>
            <a:ext cx="1539775" cy="323849"/>
          </a:xfrm>
          <a:prstGeom prst="roundRect">
            <a:avLst>
              <a:gd fmla="val 6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2E34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"/>
          <p:cNvSpPr/>
          <p:nvPr/>
        </p:nvSpPr>
        <p:spPr>
          <a:xfrm>
            <a:off x="827781" y="1126827"/>
            <a:ext cx="1933474" cy="21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SOLUTION PROPOSAL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"/>
          <p:cNvSpPr/>
          <p:nvPr/>
        </p:nvSpPr>
        <p:spPr>
          <a:xfrm>
            <a:off x="719831" y="1468635"/>
            <a:ext cx="9002315" cy="51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Three Pillars of the Redesigned System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"/>
          <p:cNvSpPr/>
          <p:nvPr/>
        </p:nvSpPr>
        <p:spPr>
          <a:xfrm>
            <a:off x="719831" y="2249784"/>
            <a:ext cx="10752336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solution introduces three complementary mechanisms that together transform a fragile single-point-of-failure architecture into a resilient, self-managing distributed system.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"/>
          <p:cNvSpPr/>
          <p:nvPr/>
        </p:nvSpPr>
        <p:spPr>
          <a:xfrm>
            <a:off x="719831" y="2992139"/>
            <a:ext cx="3464122" cy="2792908"/>
          </a:xfrm>
          <a:prstGeom prst="roundRect">
            <a:avLst>
              <a:gd fmla="val 9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"/>
          <p:cNvSpPr/>
          <p:nvPr/>
        </p:nvSpPr>
        <p:spPr>
          <a:xfrm>
            <a:off x="899715" y="3172023"/>
            <a:ext cx="539849" cy="539848"/>
          </a:xfrm>
          <a:prstGeom prst="roundRect">
            <a:avLst>
              <a:gd fmla="val 14113634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6" name="Google Shape;4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147" y="3320454"/>
            <a:ext cx="242886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5"/>
          <p:cNvSpPr/>
          <p:nvPr/>
        </p:nvSpPr>
        <p:spPr>
          <a:xfrm>
            <a:off x="899715" y="3891755"/>
            <a:ext cx="2295921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Consistent Hash 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"/>
          <p:cNvSpPr/>
          <p:nvPr/>
        </p:nvSpPr>
        <p:spPr>
          <a:xfrm>
            <a:off x="899715" y="4255293"/>
            <a:ext cx="3104356" cy="134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Uses </a:t>
            </a: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150 virtual nodes per physical node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 achieve balanced key distribution. Only </a:t>
            </a:r>
            <a:r>
              <a:rPr b="1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1/N of keys</a:t>
            </a: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are redistributed during node additions or removals.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"/>
          <p:cNvSpPr/>
          <p:nvPr/>
        </p:nvSpPr>
        <p:spPr>
          <a:xfrm>
            <a:off x="4363839" y="2992139"/>
            <a:ext cx="3464222" cy="2792908"/>
          </a:xfrm>
          <a:prstGeom prst="roundRect">
            <a:avLst>
              <a:gd fmla="val 9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"/>
          <p:cNvSpPr/>
          <p:nvPr/>
        </p:nvSpPr>
        <p:spPr>
          <a:xfrm>
            <a:off x="4543722" y="3172023"/>
            <a:ext cx="539849" cy="539848"/>
          </a:xfrm>
          <a:prstGeom prst="roundRect">
            <a:avLst>
              <a:gd fmla="val 14113634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1" name="Google Shape;4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2154" y="3320454"/>
            <a:ext cx="242886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"/>
          <p:cNvSpPr/>
          <p:nvPr/>
        </p:nvSpPr>
        <p:spPr>
          <a:xfrm>
            <a:off x="4543722" y="3891755"/>
            <a:ext cx="20451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Buddy Replication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"/>
          <p:cNvSpPr/>
          <p:nvPr/>
        </p:nvSpPr>
        <p:spPr>
          <a:xfrm>
            <a:off x="4543722" y="4255293"/>
            <a:ext cx="3104455" cy="134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Replicates every key to a designated buddy node, enabling seamless data retrieval even when the primary node fails, with no manual intervention required.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"/>
          <p:cNvSpPr/>
          <p:nvPr/>
        </p:nvSpPr>
        <p:spPr>
          <a:xfrm>
            <a:off x="8007945" y="2992139"/>
            <a:ext cx="3464222" cy="2792908"/>
          </a:xfrm>
          <a:prstGeom prst="roundRect">
            <a:avLst>
              <a:gd fmla="val 9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"/>
          <p:cNvSpPr/>
          <p:nvPr/>
        </p:nvSpPr>
        <p:spPr>
          <a:xfrm>
            <a:off x="8187827" y="3172023"/>
            <a:ext cx="539849" cy="539848"/>
          </a:xfrm>
          <a:prstGeom prst="roundRect">
            <a:avLst>
              <a:gd fmla="val 14113634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36260" y="3320454"/>
            <a:ext cx="242886" cy="242887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"/>
          <p:cNvSpPr/>
          <p:nvPr/>
        </p:nvSpPr>
        <p:spPr>
          <a:xfrm>
            <a:off x="8187827" y="3891755"/>
            <a:ext cx="2117922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Gossip Membership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5"/>
          <p:cNvSpPr/>
          <p:nvPr/>
        </p:nvSpPr>
        <p:spPr>
          <a:xfrm>
            <a:off x="8187827" y="4255293"/>
            <a:ext cx="3104455" cy="134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Continuously exchanges membership state between nodes to detect failures and automatically rebuild cluster topology hence no central coordinator needed.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470" name="Google Shape;470;p5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"/>
          <p:cNvSpPr/>
          <p:nvPr/>
        </p:nvSpPr>
        <p:spPr>
          <a:xfrm>
            <a:off x="719831" y="494902"/>
            <a:ext cx="574972" cy="134937"/>
          </a:xfrm>
          <a:prstGeom prst="roundRect">
            <a:avLst>
              <a:gd fmla="val 8003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2E34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"/>
          <p:cNvSpPr/>
          <p:nvPr/>
        </p:nvSpPr>
        <p:spPr>
          <a:xfrm>
            <a:off x="719831" y="647798"/>
            <a:ext cx="4300968" cy="256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End-to-End System Architecture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"/>
          <p:cNvSpPr/>
          <p:nvPr/>
        </p:nvSpPr>
        <p:spPr>
          <a:xfrm>
            <a:off x="744934" y="6704607"/>
            <a:ext cx="582129" cy="128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Request Flo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"/>
          <p:cNvSpPr/>
          <p:nvPr/>
        </p:nvSpPr>
        <p:spPr>
          <a:xfrm>
            <a:off x="6212086" y="6877347"/>
            <a:ext cx="5266430" cy="202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700"/>
              <a:buFont typeface="Source Sans 3"/>
              <a:buNone/>
            </a:pPr>
            <a:r>
              <a:rPr b="0" i="0" lang="en-US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Gossip Membership runs continuously in the background, exchanging heartbeat messages between nodes. When a node joins or fails, the ring is rebuilt automatically and buddy assignments are recalculated without service interruption.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481" name="Google Shape;481;p6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2" name="Google Shape;4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296" y="1074449"/>
            <a:ext cx="8241548" cy="5630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"/>
          <p:cNvSpPr/>
          <p:nvPr/>
        </p:nvSpPr>
        <p:spPr>
          <a:xfrm>
            <a:off x="615055" y="724792"/>
            <a:ext cx="4828279" cy="51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Live Demonstration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2343894" y="2894508"/>
            <a:ext cx="215899" cy="269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"/>
          <p:cNvSpPr/>
          <p:nvPr/>
        </p:nvSpPr>
        <p:spPr>
          <a:xfrm>
            <a:off x="5987900" y="2894508"/>
            <a:ext cx="215899" cy="269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9632007" y="2894508"/>
            <a:ext cx="215899" cy="269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493" name="Google Shape;493;p7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"/>
          <p:cNvSpPr/>
          <p:nvPr/>
        </p:nvSpPr>
        <p:spPr>
          <a:xfrm>
            <a:off x="719831" y="1407318"/>
            <a:ext cx="1167606" cy="323849"/>
          </a:xfrm>
          <a:prstGeom prst="roundRect">
            <a:avLst>
              <a:gd fmla="val 6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2E34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827781" y="1461294"/>
            <a:ext cx="1561305" cy="21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LEARNINGS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719831" y="1803101"/>
            <a:ext cx="5696148" cy="51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Engineering Takeaways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719831" y="2584251"/>
            <a:ext cx="10752336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Building this system provided hands-on experience with the core principles that underpin production-grade distributed systems at enterprise scale.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3" name="Google Shape;5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31" y="3326605"/>
            <a:ext cx="3464122" cy="21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8"/>
          <p:cNvSpPr/>
          <p:nvPr/>
        </p:nvSpPr>
        <p:spPr>
          <a:xfrm>
            <a:off x="1026715" y="3531889"/>
            <a:ext cx="2805509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Efficient Data Distribution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1026715" y="3895425"/>
            <a:ext cx="2951955" cy="134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Hashing minimizes key redistribution during topology changes, dramatically reducing the operational cost of scaling compared to modulo-based approaches.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6" name="Google Shape;5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3839" y="3326605"/>
            <a:ext cx="3464222" cy="21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8"/>
          <p:cNvSpPr/>
          <p:nvPr/>
        </p:nvSpPr>
        <p:spPr>
          <a:xfrm>
            <a:off x="4670722" y="3531889"/>
            <a:ext cx="2766417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Fault Tolerance by Design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4670722" y="3895425"/>
            <a:ext cx="2952055" cy="107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Buddy Replication ensures data availability during single-node failures without requiring a central recovery coordinator or manual intervention.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9" name="Google Shape;5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7945" y="3326605"/>
            <a:ext cx="3464222" cy="21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8"/>
          <p:cNvSpPr/>
          <p:nvPr/>
        </p:nvSpPr>
        <p:spPr>
          <a:xfrm>
            <a:off x="8314828" y="3531889"/>
            <a:ext cx="2952055" cy="511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Decentralized Cluster Management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8314828" y="4151014"/>
            <a:ext cx="2952055" cy="1079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Gossip Membership enables automatic node discovery and failure detection, the cluster self-heals without any single point of control.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8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513" name="Google Shape;513;p8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"/>
          <p:cNvSpPr/>
          <p:nvPr/>
        </p:nvSpPr>
        <p:spPr>
          <a:xfrm>
            <a:off x="719831" y="597394"/>
            <a:ext cx="1025028" cy="323849"/>
          </a:xfrm>
          <a:prstGeom prst="roundRect">
            <a:avLst>
              <a:gd fmla="val 6669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2E34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827781" y="651370"/>
            <a:ext cx="1418728" cy="215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2E34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CONCLUSION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719831" y="993179"/>
            <a:ext cx="7875586" cy="51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We Achieved &amp; What's Next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590152" y="1774328"/>
            <a:ext cx="5415954" cy="4486275"/>
          </a:xfrm>
          <a:prstGeom prst="roundRect">
            <a:avLst>
              <a:gd fmla="val 602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770036" y="1954212"/>
            <a:ext cx="2668488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We Achieved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770036" y="2389683"/>
            <a:ext cx="5056187" cy="8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Successfully replaced modulo-based key distribution with a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Hash Ring</a:t>
            </a:r>
            <a:r>
              <a:rPr b="0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, enabling efficient horizontal scaling while minimizing key redistribution during cluster changes.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770036" y="3446958"/>
            <a:ext cx="5056187" cy="25399"/>
          </a:xfrm>
          <a:prstGeom prst="roundRect">
            <a:avLst>
              <a:gd fmla="val 59999" name="adj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70036" y="3719709"/>
            <a:ext cx="3437631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Availability Delivered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770036" y="4155181"/>
            <a:ext cx="5056187" cy="8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3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Buddy Replication</a:t>
            </a:r>
            <a:r>
              <a:rPr b="0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and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Gossip Membership</a:t>
            </a:r>
            <a:r>
              <a:rPr b="0" i="0" lang="en-US" sz="14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together ensure continuous data availability and automatic recovery from node failures with zero manual intervention.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6321921" y="1954212"/>
            <a:ext cx="26547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9" name="Google Shape;5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9389" y="2417811"/>
            <a:ext cx="269874" cy="26987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9"/>
          <p:cNvSpPr/>
          <p:nvPr/>
        </p:nvSpPr>
        <p:spPr>
          <a:xfrm>
            <a:off x="6906716" y="2412205"/>
            <a:ext cx="20451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Hinted Handoff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6906716" y="2847676"/>
            <a:ext cx="4571801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Temporarily store writes on alternate nodes when the primary is unavailable, then replay on recovery.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2" name="Google Shape;5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9389" y="3753097"/>
            <a:ext cx="269874" cy="26987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"/>
          <p:cNvSpPr/>
          <p:nvPr/>
        </p:nvSpPr>
        <p:spPr>
          <a:xfrm>
            <a:off x="6906716" y="3747492"/>
            <a:ext cx="2445544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Multi-Key Transactions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6906716" y="4182962"/>
            <a:ext cx="4571801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Enable atomic operations across multiple keys for stronger consistency guarantees.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5" name="Google Shape;5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9389" y="5088384"/>
            <a:ext cx="269874" cy="26987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9"/>
          <p:cNvSpPr/>
          <p:nvPr/>
        </p:nvSpPr>
        <p:spPr>
          <a:xfrm>
            <a:off x="6906716" y="5082777"/>
            <a:ext cx="2045196" cy="255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HTTP Gateway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6906716" y="5518248"/>
            <a:ext cx="4571801" cy="539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Source Sans 3"/>
              <a:buNone/>
            </a:pPr>
            <a:r>
              <a:rPr b="0" i="0" lang="en-US" sz="14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Expose a RESTful interface for broader client compatibility.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9"/>
          <p:cNvSpPr txBox="1"/>
          <p:nvPr>
            <p:ph idx="11" type="ftr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  <p:sp>
        <p:nvSpPr>
          <p:cNvPr id="539" name="Google Shape;539;p9"/>
          <p:cNvSpPr txBox="1"/>
          <p:nvPr>
            <p:ph idx="12" type="sldNum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"/>
          <p:cNvSpPr txBox="1"/>
          <p:nvPr>
            <p:ph type="title"/>
          </p:nvPr>
        </p:nvSpPr>
        <p:spPr>
          <a:xfrm>
            <a:off x="374903" y="2449576"/>
            <a:ext cx="8188525" cy="8758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48" name="Google Shape;548;p10"/>
          <p:cNvSpPr txBox="1"/>
          <p:nvPr>
            <p:ph idx="11" type="ftr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HPE internal use only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PE Light Theme">
  <a:themeElements>
    <a:clrScheme name="HPE Light">
      <a:dk1>
        <a:srgbClr val="292D3A"/>
      </a:dk1>
      <a:lt1>
        <a:srgbClr val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HPE Light">
      <a:dk1>
        <a:srgbClr val="292D3A"/>
      </a:dk1>
      <a:lt1>
        <a:srgbClr val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2026-06-16T04:29:11Z</dcterms:created>
  <dc:creator>M, Hemalatha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0x010100BBC6F68666B2224DBD60E57DCD303CF2</vt:lpwstr>
  </property>
</Properties>
</file>